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1234" y="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нутый угол 8"/>
          <p:cNvSpPr/>
          <p:nvPr userDrawn="1"/>
        </p:nvSpPr>
        <p:spPr>
          <a:xfrm rot="5400000">
            <a:off x="1730575" y="-492545"/>
            <a:ext cx="5682853" cy="7920882"/>
          </a:xfrm>
          <a:prstGeom prst="foldedCorner">
            <a:avLst/>
          </a:prstGeom>
          <a:solidFill>
            <a:schemeClr val="lt1">
              <a:alpha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287603"/>
            <a:ext cx="1402174" cy="1846864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718" y="4653136"/>
            <a:ext cx="871730" cy="148133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44476"/>
            <a:ext cx="1164338" cy="36880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914" y="644476"/>
            <a:ext cx="1164338" cy="368809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670979"/>
            <a:ext cx="1164338" cy="36880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714" y="644475"/>
            <a:ext cx="1164338" cy="368809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644476"/>
            <a:ext cx="1164338" cy="368809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296" y="644476"/>
            <a:ext cx="1164338" cy="36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12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013176"/>
            <a:ext cx="871730" cy="148133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2821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2378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71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997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08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79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4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432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00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57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2CC29-3107-46C9-97B5-70F74598B9A2}" type="datetimeFigureOut">
              <a:rPr lang="ru-RU" smtClean="0"/>
              <a:pPr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F1962-A493-4ECC-84BF-9568E32EBBE0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Рамка 6"/>
          <p:cNvSpPr/>
          <p:nvPr userDrawn="1"/>
        </p:nvSpPr>
        <p:spPr>
          <a:xfrm>
            <a:off x="0" y="0"/>
            <a:ext cx="9144000" cy="6858000"/>
          </a:xfrm>
          <a:prstGeom prst="frame">
            <a:avLst>
              <a:gd name="adj1" fmla="val 2870"/>
            </a:avLst>
          </a:prstGeom>
          <a:blipFill>
            <a:blip r:embed="rId14" cstate="print"/>
            <a:stretch>
              <a:fillRect/>
            </a:stretch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842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Понятие алгоритма, его свойства и формы представления</a:t>
            </a:r>
            <a:endParaRPr lang="ru-RU" b="1" i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30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По страничкам истории.</a:t>
            </a:r>
            <a:endParaRPr lang="ru-RU" sz="2400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51920" y="1772816"/>
            <a:ext cx="5122912" cy="4392487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sz="1800" b="1" dirty="0" smtClean="0">
                <a:solidFill>
                  <a:srgbClr val="002060"/>
                </a:solidFill>
                <a:latin typeface="Comic Sans MS" pitchFamily="66" charset="0"/>
              </a:rPr>
              <a:t>	Из математических работ </a:t>
            </a:r>
            <a:r>
              <a:rPr lang="ru-RU" sz="1800" b="1" dirty="0" err="1" smtClean="0">
                <a:solidFill>
                  <a:srgbClr val="002060"/>
                </a:solidFill>
                <a:latin typeface="Comic Sans MS" pitchFamily="66" charset="0"/>
              </a:rPr>
              <a:t>Аль-Хорезми</a:t>
            </a:r>
            <a:r>
              <a:rPr lang="ru-RU" sz="1800" b="1" dirty="0" smtClean="0">
                <a:solidFill>
                  <a:srgbClr val="002060"/>
                </a:solidFill>
                <a:latin typeface="Comic Sans MS" pitchFamily="66" charset="0"/>
              </a:rPr>
              <a:t> до нас дошли только две – алгебраическая и арифметическая. Вторая книга долгое время считалась потерянной, но в 1857 в библиотеке Кембриджского университета был найден ее перевод на латинский язык. В ней описаны четыре правила арифметических действий, практически те же, что используются и сейчас. Первые строки этой книги были переведены так: «Сказал </a:t>
            </a:r>
            <a:r>
              <a:rPr lang="ru-RU" sz="1800" b="1" dirty="0" err="1" smtClean="0">
                <a:solidFill>
                  <a:srgbClr val="002060"/>
                </a:solidFill>
                <a:latin typeface="Comic Sans MS" pitchFamily="66" charset="0"/>
              </a:rPr>
              <a:t>Алгоритми</a:t>
            </a:r>
            <a:r>
              <a:rPr lang="ru-RU" sz="1800" b="1" dirty="0" smtClean="0">
                <a:solidFill>
                  <a:srgbClr val="002060"/>
                </a:solidFill>
                <a:latin typeface="Comic Sans MS" pitchFamily="66" charset="0"/>
              </a:rPr>
              <a:t>. Воздадим должную хвалу Богу, нашему вождю и защитнику». Так имя </a:t>
            </a:r>
            <a:r>
              <a:rPr lang="ru-RU" sz="1800" b="1" dirty="0" err="1" smtClean="0">
                <a:solidFill>
                  <a:srgbClr val="002060"/>
                </a:solidFill>
                <a:latin typeface="Comic Sans MS" pitchFamily="66" charset="0"/>
              </a:rPr>
              <a:t>Аль-Хорезми</a:t>
            </a:r>
            <a:r>
              <a:rPr lang="ru-RU" sz="1800" b="1" dirty="0" smtClean="0">
                <a:solidFill>
                  <a:srgbClr val="002060"/>
                </a:solidFill>
                <a:latin typeface="Comic Sans MS" pitchFamily="66" charset="0"/>
              </a:rPr>
              <a:t> перешло в «</a:t>
            </a:r>
            <a:r>
              <a:rPr lang="ru-RU" sz="1800" b="1" dirty="0" err="1" smtClean="0">
                <a:solidFill>
                  <a:srgbClr val="002060"/>
                </a:solidFill>
                <a:latin typeface="Comic Sans MS" pitchFamily="66" charset="0"/>
              </a:rPr>
              <a:t>Алгоритми</a:t>
            </a:r>
            <a:r>
              <a:rPr lang="ru-RU" sz="1800" b="1" dirty="0" smtClean="0">
                <a:solidFill>
                  <a:srgbClr val="002060"/>
                </a:solidFill>
                <a:latin typeface="Comic Sans MS" pitchFamily="66" charset="0"/>
              </a:rPr>
              <a:t>», откуда и появилось слово «алгоритм».</a:t>
            </a:r>
            <a:endParaRPr lang="ru-RU" sz="1800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pic>
        <p:nvPicPr>
          <p:cNvPr id="2050" name="Picture 2" descr="https://steemitimages.com/p/99pyU5Ga1kwr5XhxFXPjPMx1R5ggUd6wjegtx4AdRAp8UUSZsxbwbAJyZBWN97nrbvHVBEmcBVVtch2cXcu4mpUrdmafEcjVnr1sDzBqbfQrHyN7JLoJ1jNLkxb49sYjDG?format=match&amp;mode=fi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44824"/>
            <a:ext cx="3835627" cy="465090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67544" y="980728"/>
            <a:ext cx="8280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Слово «алгоритм» происходит от имени великого среднеазиатского ученого </a:t>
            </a:r>
            <a:r>
              <a:rPr lang="en-US" b="1" dirty="0" smtClean="0">
                <a:solidFill>
                  <a:srgbClr val="002060"/>
                </a:solidFill>
                <a:latin typeface="Comic Sans MS" pitchFamily="66" charset="0"/>
              </a:rPr>
              <a:t>VIII</a:t>
            </a: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–</a:t>
            </a:r>
            <a:r>
              <a:rPr lang="en-US" b="1" dirty="0" smtClean="0">
                <a:solidFill>
                  <a:srgbClr val="002060"/>
                </a:solidFill>
                <a:latin typeface="Comic Sans MS" pitchFamily="66" charset="0"/>
              </a:rPr>
              <a:t>IX</a:t>
            </a: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 вв. </a:t>
            </a:r>
            <a:r>
              <a:rPr lang="ru-RU" b="1" dirty="0" err="1" smtClean="0">
                <a:solidFill>
                  <a:srgbClr val="002060"/>
                </a:solidFill>
                <a:latin typeface="Comic Sans MS" pitchFamily="66" charset="0"/>
              </a:rPr>
              <a:t>Аль-Хорезми</a:t>
            </a: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3606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7784" y="404664"/>
            <a:ext cx="39084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Что же такое алгоритм?</a:t>
            </a:r>
            <a:endParaRPr lang="ru-RU" sz="2400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385" name="Rectangle 1"/>
          <p:cNvSpPr>
            <a:spLocks noChangeArrowheads="1"/>
          </p:cNvSpPr>
          <p:nvPr/>
        </p:nvSpPr>
        <p:spPr bwMode="auto">
          <a:xfrm>
            <a:off x="395536" y="1536468"/>
            <a:ext cx="81724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Алгоритм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– понятное и точное предписание исполнителю совершить определенную последовательность действий для достижения поставленной цели за конечное число шагов.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43808" y="404664"/>
            <a:ext cx="3704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Свойства алгоритмов. </a:t>
            </a:r>
            <a:endParaRPr lang="ru-RU" sz="2400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251520" y="908720"/>
            <a:ext cx="86044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1. Дискретность (алгоритм должен состоять из конкретных действий, следующих в определенном порядке);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51520" y="1916832"/>
            <a:ext cx="85689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2. Детерминированность (любое действие должно быть строго и недвусмысленно определено в каждом случае);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23528" y="2924944"/>
            <a:ext cx="8568952" cy="64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3. Конечность (каждое действие и алгоритм в целом должны иметь возможность завершения);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323528" y="3861048"/>
            <a:ext cx="85689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4. Массовость (один и тот же алгоритм можно использовать с разными исходными данными);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23528" y="4797152"/>
            <a:ext cx="8496944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5. Результативность (отсутствие ошибок, алгоритм должен приводить к правильному результату для всех допустимых входных значениях).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195736" y="404664"/>
            <a:ext cx="4724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Способы записи алгоритмов.</a:t>
            </a:r>
            <a:endParaRPr lang="ru-RU" sz="2400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7704" y="1052736"/>
            <a:ext cx="5202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Словесный – запись на естественном языке</a:t>
            </a:r>
            <a:endParaRPr lang="ru-RU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1520" y="1916832"/>
            <a:ext cx="35283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Переход улицы: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Остановись на тротуаре.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Посмотри налево.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Если транспорта нет, то иди до середины улицы и остановись, иначе выполняй п. 2.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Посмотри направо.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Если нет транспорта, то иди до противоположного тротуара, иначе выполняй п. 4. </a:t>
            </a:r>
            <a:endParaRPr lang="ru-RU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pic>
        <p:nvPicPr>
          <p:cNvPr id="20482" name="Picture 2" descr="http://4.bp.blogspot.com/-3xEdUYSTO4E/UwIA0Qi5-SI/AAAAAAAAA9s/IlKq0EiZz2M/s1600/DSC0977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1844824"/>
            <a:ext cx="5274973" cy="39562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87624" y="404664"/>
            <a:ext cx="6768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Графический – изображения из графических символов</a:t>
            </a:r>
            <a:endParaRPr lang="ru-RU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pic>
        <p:nvPicPr>
          <p:cNvPr id="19458" name="Picture 2" descr="http://900igr.net/up/datai/244810/0006-003-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844824"/>
            <a:ext cx="7991475" cy="441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899592" y="548680"/>
            <a:ext cx="7344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Программный – тексты на языках программирования</a:t>
            </a:r>
            <a:endParaRPr lang="ru-RU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pic>
        <p:nvPicPr>
          <p:cNvPr id="18433" name="Picture 1" descr="C:\Users\User\Desktop\slide-1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196752"/>
            <a:ext cx="6840760" cy="50224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979712" y="260648"/>
            <a:ext cx="54841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Графическая форма - блок-схема</a:t>
            </a:r>
            <a:endParaRPr lang="ru-RU" sz="2400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179512" y="908720"/>
          <a:ext cx="8712968" cy="5639933"/>
        </p:xfrm>
        <a:graphic>
          <a:graphicData uri="http://schemas.openxmlformats.org/drawingml/2006/table">
            <a:tbl>
              <a:tblPr/>
              <a:tblGrid>
                <a:gridCol w="4356484"/>
                <a:gridCol w="4356484"/>
              </a:tblGrid>
              <a:tr h="429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Назначение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Вид стандартного графического объекта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84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Начало алгоритма 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6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Конец алгоритма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012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Выполняемое </a:t>
                      </a: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действие записывается внутри прямоугольника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100" dirty="0" smtClean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Пою</a:t>
                      </a:r>
                      <a:endParaRPr lang="ru-RU" sz="1600" b="1" dirty="0">
                        <a:solidFill>
                          <a:srgbClr val="002060"/>
                        </a:solidFill>
                        <a:latin typeface="Comic Sans MS" pitchFamily="66" charset="0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83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Условие </a:t>
                      </a: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выполнения действий записывается внутри ромба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 smtClean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Приедешь</a:t>
                      </a: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?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88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 smtClean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Счетчик </a:t>
                      </a: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количества повторов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1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6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Счётчик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91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ru-RU" sz="1800" b="1" dirty="0">
                          <a:solidFill>
                            <a:srgbClr val="002060"/>
                          </a:solidFill>
                          <a:latin typeface="Comic Sans MS" pitchFamily="66" charset="0"/>
                          <a:ea typeface="Calibri"/>
                          <a:cs typeface="Times New Roman"/>
                        </a:rPr>
                        <a:t>Последовательность выполнения действий 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ru-RU" sz="12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5796136" y="2276872"/>
            <a:ext cx="1455737" cy="40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5796136" y="1700808"/>
            <a:ext cx="1455737" cy="40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8" name="AutoShape 4"/>
          <p:cNvSpPr>
            <a:spLocks noChangeArrowheads="1"/>
          </p:cNvSpPr>
          <p:nvPr/>
        </p:nvSpPr>
        <p:spPr bwMode="auto">
          <a:xfrm>
            <a:off x="5652120" y="4077072"/>
            <a:ext cx="1839913" cy="666750"/>
          </a:xfrm>
          <a:prstGeom prst="flowChartDecision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5652120" y="2996952"/>
            <a:ext cx="1800200" cy="7200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1506" name="AutoShape 2"/>
          <p:cNvSpPr>
            <a:spLocks noChangeShapeType="1"/>
          </p:cNvSpPr>
          <p:nvPr/>
        </p:nvSpPr>
        <p:spPr bwMode="auto">
          <a:xfrm flipH="1">
            <a:off x="5796136" y="5949280"/>
            <a:ext cx="45719" cy="58000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1505" name="AutoShape 1"/>
          <p:cNvSpPr>
            <a:spLocks noChangeShapeType="1"/>
          </p:cNvSpPr>
          <p:nvPr/>
        </p:nvSpPr>
        <p:spPr bwMode="auto">
          <a:xfrm>
            <a:off x="6372200" y="6237312"/>
            <a:ext cx="10160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5724128" y="5085184"/>
            <a:ext cx="1839913" cy="666750"/>
          </a:xfrm>
          <a:prstGeom prst="flowChartDecision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2987824" y="332656"/>
            <a:ext cx="303320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Виды алгоритмов: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395536" y="1412776"/>
            <a:ext cx="828092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Линейный алгоритм –</a:t>
            </a:r>
            <a:r>
              <a:rPr kumimoji="0" lang="ru-RU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описание действий, которые выполняются однократно в заданном порядке;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2. Разветвляющий алгоритм –</a:t>
            </a:r>
            <a:r>
              <a:rPr kumimoji="0" lang="ru-RU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алгоритм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, в котором в зависимости от условия выполняется либо одна, либо другая последовательность действий;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3. Циклический алгоритм –</a:t>
            </a:r>
            <a:r>
              <a:rPr kumimoji="0" lang="ru-RU" b="1" i="0" u="none" strike="noStrike" cap="none" normalizeH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описание действий, которые должны повторятся указанное число, раз или пока не выполнено задание;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4. Вспомогательный алгоритм – 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алгоритм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, который можно использовать в других алгоритмах, указав только его имя.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411760" y="332656"/>
            <a:ext cx="4616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Стадии создания алгоритма:</a:t>
            </a:r>
            <a:endParaRPr lang="ru-RU" sz="2400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3553" name="Rectangle 1"/>
          <p:cNvSpPr>
            <a:spLocks noChangeArrowheads="1"/>
          </p:cNvSpPr>
          <p:nvPr/>
        </p:nvSpPr>
        <p:spPr bwMode="auto">
          <a:xfrm>
            <a:off x="395536" y="765285"/>
            <a:ext cx="8352928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Алгоритм должен быть представлен в форме, понятной человеку, который его разрабатывает.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2. Алгоритм должен быть представлен в форме, понятной тому объекту (в том числе и человеку), который будет выполнять описанные в алгоритме действия.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323528" y="2667107"/>
            <a:ext cx="8496944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926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Объект, который будет выполнять алгоритм, обычно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называют исполнителем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ea typeface="Calibri" pitchFamily="34" charset="0"/>
              <a:cs typeface="Times New Roman" pitchFamily="18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Исполнитель алгоритма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система, способная выполнить действия, предписываемые алгоритмом. 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ea typeface="Calibri" pitchFamily="34" charset="0"/>
              <a:cs typeface="Times New Roman" pitchFamily="18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Компьютер – автоматический исполнитель алгоритмов.</a:t>
            </a: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44926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Алгоритм, записанный на «понятном» компьютеру языке программирования, 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называется программой.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ChangeArrowheads="1"/>
          </p:cNvSpPr>
          <p:nvPr/>
        </p:nvSpPr>
        <p:spPr bwMode="auto">
          <a:xfrm>
            <a:off x="2051720" y="404664"/>
            <a:ext cx="48045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Характеристика исполнителя: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323528" y="1124744"/>
            <a:ext cx="8496944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Среда — это «место обитания» исполнителя.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Система команд – некоторый строго заданный список команд.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После вызова команды исполнитель совершает соответствующее элементарное действие.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Отказы исполнителя возникают, если команда вызывается при недопустимом для нее состоянии среды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27784" y="404664"/>
            <a:ext cx="4352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Закрепление пройденного.</a:t>
            </a:r>
            <a:endParaRPr lang="ru-RU" sz="2400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39552" y="980728"/>
            <a:ext cx="52245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Взаимопроверка работа в парах.</a:t>
            </a:r>
            <a:endParaRPr lang="ru-RU" sz="2400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755576" y="1628800"/>
            <a:ext cx="77075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Ответьте друг другу на поставленные вопросы. </a:t>
            </a:r>
            <a:endParaRPr kumimoji="0" lang="ru-RU" sz="2400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251520" y="2320806"/>
            <a:ext cx="68307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Что такое алгоритм? Приведите примеры алгоритмов.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251520" y="2968878"/>
            <a:ext cx="496321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Какие свойства алгоритмов вы знаете?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251520" y="3573016"/>
            <a:ext cx="45544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Какие виды алгоритмов вы знаете?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251520" y="4149080"/>
            <a:ext cx="842392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Какие способы записи алгоритмов вы знаете?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251520" y="4797152"/>
            <a:ext cx="466345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Что такое исполнитель алгоритмов?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51520" y="5417150"/>
            <a:ext cx="29963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Comic Sans MS" pitchFamily="66" charset="0"/>
                <a:ea typeface="Calibri" pitchFamily="34" charset="0"/>
                <a:cs typeface="Times New Roman" pitchFamily="18" charset="0"/>
              </a:rPr>
              <a:t>- Что такое программа?</a:t>
            </a:r>
            <a:endParaRPr kumimoji="0" lang="ru-RU" b="1" i="0" u="none" strike="noStrike" cap="none" normalizeH="0" baseline="0" dirty="0" smtClean="0">
              <a:ln>
                <a:noFill/>
              </a:ln>
              <a:solidFill>
                <a:srgbClr val="002060"/>
              </a:solidFill>
              <a:effectLst/>
              <a:latin typeface="Comic Sans MS" pitchFamily="66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076056" y="620688"/>
            <a:ext cx="3350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002060"/>
                </a:solidFill>
                <a:latin typeface="Comic Sans MS" pitchFamily="66" charset="0"/>
              </a:rPr>
              <a:t>Домашнее задание. </a:t>
            </a:r>
            <a:endParaRPr lang="ru-RU" sz="2400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860032" y="2276872"/>
            <a:ext cx="3536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002060"/>
                </a:solidFill>
                <a:latin typeface="Comic Sans MS" pitchFamily="66" charset="0"/>
              </a:rPr>
              <a:t>Учебник параграф: 3.1; 3.2.</a:t>
            </a:r>
            <a:endParaRPr lang="ru-RU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pic>
        <p:nvPicPr>
          <p:cNvPr id="26626" name="Picture 2" descr="https://i.pinimg.com/736x/0b/df/05/0bdf05f9332603987a26a874eb0f5b9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548680"/>
            <a:ext cx="3959907" cy="576163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501</Words>
  <Application>Microsoft Office PowerPoint</Application>
  <PresentationFormat>Экран (4:3)</PresentationFormat>
  <Paragraphs>74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Понятие алгоритма, его свойства и формы представления</vt:lpstr>
      <vt:lpstr>По страничкам истории.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«Математика 1»</dc:title>
  <dc:creator>Ольга</dc:creator>
  <cp:lastModifiedBy>User</cp:lastModifiedBy>
  <cp:revision>19</cp:revision>
  <dcterms:created xsi:type="dcterms:W3CDTF">2016-03-12T21:35:53Z</dcterms:created>
  <dcterms:modified xsi:type="dcterms:W3CDTF">2026-01-10T21:05:11Z</dcterms:modified>
</cp:coreProperties>
</file>